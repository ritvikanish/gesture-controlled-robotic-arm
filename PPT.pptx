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BD4461A-CFDA-4CB2-A620-501578F2D5C0}"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1850129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D4461A-CFDA-4CB2-A620-501578F2D5C0}"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2504299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D4461A-CFDA-4CB2-A620-501578F2D5C0}"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142135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BD4461A-CFDA-4CB2-A620-501578F2D5C0}"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378415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BD4461A-CFDA-4CB2-A620-501578F2D5C0}" type="datetimeFigureOut">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1133257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BD4461A-CFDA-4CB2-A620-501578F2D5C0}"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867090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D4461A-CFDA-4CB2-A620-501578F2D5C0}" type="datetimeFigureOut">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2985502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D4461A-CFDA-4CB2-A620-501578F2D5C0}"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2206586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D4461A-CFDA-4CB2-A620-501578F2D5C0}"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3228041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D4461A-CFDA-4CB2-A620-501578F2D5C0}"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857919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D4461A-CFDA-4CB2-A620-501578F2D5C0}"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74A03A-C4CA-47BA-AA96-AE7E241E9048}" type="slidenum">
              <a:rPr lang="en-IN" smtClean="0"/>
              <a:t>‹#›</a:t>
            </a:fld>
            <a:endParaRPr lang="en-IN"/>
          </a:p>
        </p:txBody>
      </p:sp>
    </p:spTree>
    <p:extLst>
      <p:ext uri="{BB962C8B-B14F-4D97-AF65-F5344CB8AC3E}">
        <p14:creationId xmlns:p14="http://schemas.microsoft.com/office/powerpoint/2010/main" val="380345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D4461A-CFDA-4CB2-A620-501578F2D5C0}" type="datetimeFigureOut">
              <a:rPr lang="en-IN" smtClean="0"/>
              <a:t>09-02-2026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74A03A-C4CA-47BA-AA96-AE7E241E9048}" type="slidenum">
              <a:rPr lang="en-IN" smtClean="0"/>
              <a:t>‹#›</a:t>
            </a:fld>
            <a:endParaRPr lang="en-IN"/>
          </a:p>
        </p:txBody>
      </p:sp>
    </p:spTree>
    <p:extLst>
      <p:ext uri="{BB962C8B-B14F-4D97-AF65-F5344CB8AC3E}">
        <p14:creationId xmlns:p14="http://schemas.microsoft.com/office/powerpoint/2010/main" val="1487584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dirty="0" smtClean="0">
                <a:latin typeface="Cambria" panose="02040503050406030204" pitchFamily="18" charset="0"/>
                <a:ea typeface="Cambria" panose="02040503050406030204" pitchFamily="18" charset="0"/>
              </a:rPr>
              <a:t>Problem Statement</a:t>
            </a:r>
            <a:endParaRPr lang="en-IN" dirty="0">
              <a:latin typeface="Cambria" panose="02040503050406030204" pitchFamily="18" charset="0"/>
              <a:ea typeface="Cambria" panose="02040503050406030204" pitchFamily="18" charset="0"/>
            </a:endParaRPr>
          </a:p>
        </p:txBody>
      </p:sp>
      <p:sp>
        <p:nvSpPr>
          <p:cNvPr id="5" name="Content Placeholder 4"/>
          <p:cNvSpPr>
            <a:spLocks noGrp="1"/>
          </p:cNvSpPr>
          <p:nvPr>
            <p:ph idx="1"/>
          </p:nvPr>
        </p:nvSpPr>
        <p:spPr/>
        <p:txBody>
          <a:bodyPr/>
          <a:lstStyle/>
          <a:p>
            <a:r>
              <a:rPr lang="en-GB" dirty="0" smtClean="0">
                <a:latin typeface="Cambria" panose="02040503050406030204" pitchFamily="18" charset="0"/>
                <a:ea typeface="Cambria" panose="02040503050406030204" pitchFamily="18" charset="0"/>
              </a:rPr>
              <a:t>In many real-world scenarios such as assistive robotics, industrial training, and human–robot collaboration, robotic arms must respond to human intent in real time. However, current control methods depend on fixed programming or wearable sensors, making interaction unnatural and inflexible.</a:t>
            </a:r>
          </a:p>
          <a:p>
            <a:r>
              <a:rPr lang="en-GB" dirty="0" smtClean="0">
                <a:latin typeface="Cambria" panose="02040503050406030204" pitchFamily="18" charset="0"/>
                <a:ea typeface="Cambria" panose="02040503050406030204" pitchFamily="18" charset="0"/>
              </a:rPr>
              <a:t>The problem is to design a </a:t>
            </a:r>
            <a:r>
              <a:rPr lang="en-GB" b="1" dirty="0" smtClean="0">
                <a:latin typeface="Cambria" panose="02040503050406030204" pitchFamily="18" charset="0"/>
                <a:ea typeface="Cambria" panose="02040503050406030204" pitchFamily="18" charset="0"/>
              </a:rPr>
              <a:t>computer-vision–based gesture-controlled robotic arm</a:t>
            </a:r>
            <a:r>
              <a:rPr lang="en-GB" dirty="0" smtClean="0">
                <a:latin typeface="Cambria" panose="02040503050406030204" pitchFamily="18" charset="0"/>
                <a:ea typeface="Cambria" panose="02040503050406030204" pitchFamily="18" charset="0"/>
              </a:rPr>
              <a:t> that can understand user-defined hand gestures and gesture sequences without physical contact or reprogramming, allowing rapid task adaptation and intuitive robot control.</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4710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latin typeface="Cambria" panose="02040503050406030204" pitchFamily="18" charset="0"/>
                <a:ea typeface="Cambria" panose="02040503050406030204" pitchFamily="18" charset="0"/>
              </a:rPr>
              <a:t>Literature Survey</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92500" lnSpcReduction="20000"/>
          </a:bodyPr>
          <a:lstStyle/>
          <a:p>
            <a:r>
              <a:rPr lang="en-GB" dirty="0" smtClean="0">
                <a:latin typeface="Cambria" panose="02040503050406030204" pitchFamily="18" charset="0"/>
                <a:ea typeface="Cambria" panose="02040503050406030204" pitchFamily="18" charset="0"/>
              </a:rPr>
              <a:t>Recent research in vision-based gesture control has increasingly focused on enabling natural and intuitive human–robot interaction without wearable sensors. Angelidis and Bampis (2025) developed a gesture-controlled robotic arm for small assembly lines by mapping 3D joint estimates from RGB-D cameras to robot poses, highlighting the potential of AI-based vision systems in industrial contexts. </a:t>
            </a:r>
          </a:p>
          <a:p>
            <a:r>
              <a:rPr lang="en-GB" dirty="0" smtClean="0">
                <a:latin typeface="Cambria" panose="02040503050406030204" pitchFamily="18" charset="0"/>
                <a:ea typeface="Cambria" panose="02040503050406030204" pitchFamily="18" charset="0"/>
              </a:rPr>
              <a:t>A comprehensive review by Qi et al. (2023) details vision-based hand gesture recognition methods for human–robot interaction, emphasizing the importance of hand detection, segmentation, and classification as fundamental components of effective control systems. </a:t>
            </a:r>
          </a:p>
          <a:p>
            <a:r>
              <a:rPr lang="en-GB" dirty="0" smtClean="0">
                <a:latin typeface="Cambria" panose="02040503050406030204" pitchFamily="18" charset="0"/>
                <a:ea typeface="Cambria" panose="02040503050406030204" pitchFamily="18" charset="0"/>
              </a:rPr>
              <a:t>Paterson and Aldabbagh (2021) demonstrated a practical implementation of a vision-controlled robotic arm using OpenCV and a single camera, showing how visual gesture recognition can replace physical controllers in real-time robotic manipulation.</a:t>
            </a:r>
            <a:endParaRPr lang="en-IN" dirty="0" smtClean="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68920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latin typeface="Cambria" panose="02040503050406030204" pitchFamily="18" charset="0"/>
                <a:ea typeface="Cambria" panose="02040503050406030204" pitchFamily="18" charset="0"/>
              </a:rPr>
              <a:t>Objectives</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85000" lnSpcReduction="20000"/>
          </a:bodyPr>
          <a:lstStyle/>
          <a:p>
            <a:pPr fontAlgn="base"/>
            <a:r>
              <a:rPr lang="en-GB" dirty="0">
                <a:latin typeface="Cambria" panose="02040503050406030204" pitchFamily="18" charset="0"/>
                <a:ea typeface="Cambria" panose="02040503050406030204" pitchFamily="18" charset="0"/>
              </a:rPr>
              <a:t>Develop a real-time computer vision system to detect and track human hand </a:t>
            </a:r>
            <a:r>
              <a:rPr lang="en-GB" dirty="0" smtClean="0">
                <a:latin typeface="Cambria" panose="02040503050406030204" pitchFamily="18" charset="0"/>
                <a:ea typeface="Cambria" panose="02040503050406030204" pitchFamily="18" charset="0"/>
              </a:rPr>
              <a:t>gestures</a:t>
            </a:r>
            <a:br>
              <a:rPr lang="en-GB" dirty="0" smtClean="0">
                <a:latin typeface="Cambria" panose="02040503050406030204" pitchFamily="18" charset="0"/>
                <a:ea typeface="Cambria" panose="02040503050406030204" pitchFamily="18" charset="0"/>
              </a:rPr>
            </a:br>
            <a:r>
              <a:rPr lang="en-GB" dirty="0" smtClean="0">
                <a:latin typeface="Cambria" panose="02040503050406030204" pitchFamily="18" charset="0"/>
                <a:ea typeface="Cambria" panose="02040503050406030204" pitchFamily="18" charset="0"/>
              </a:rPr>
              <a:t/>
            </a:r>
            <a:br>
              <a:rPr lang="en-GB" dirty="0" smtClean="0">
                <a:latin typeface="Cambria" panose="02040503050406030204" pitchFamily="18" charset="0"/>
                <a:ea typeface="Cambria" panose="02040503050406030204" pitchFamily="18" charset="0"/>
              </a:rPr>
            </a:br>
            <a:endParaRPr lang="en-GB" dirty="0" smtClean="0">
              <a:latin typeface="Cambria" panose="02040503050406030204" pitchFamily="18" charset="0"/>
              <a:ea typeface="Cambria" panose="02040503050406030204" pitchFamily="18" charset="0"/>
            </a:endParaRPr>
          </a:p>
          <a:p>
            <a:pPr fontAlgn="base"/>
            <a:r>
              <a:rPr lang="en-GB" dirty="0" smtClean="0">
                <a:latin typeface="Cambria" panose="02040503050406030204" pitchFamily="18" charset="0"/>
                <a:ea typeface="Cambria" panose="02040503050406030204" pitchFamily="18" charset="0"/>
              </a:rPr>
              <a:t>Map </a:t>
            </a:r>
            <a:r>
              <a:rPr lang="en-GB" dirty="0">
                <a:latin typeface="Cambria" panose="02040503050406030204" pitchFamily="18" charset="0"/>
                <a:ea typeface="Cambria" panose="02040503050406030204" pitchFamily="18" charset="0"/>
              </a:rPr>
              <a:t>recognized gestures and sequences to high-level robotic actions</a:t>
            </a:r>
            <a:br>
              <a:rPr lang="en-GB" dirty="0">
                <a:latin typeface="Cambria" panose="02040503050406030204" pitchFamily="18" charset="0"/>
                <a:ea typeface="Cambria" panose="02040503050406030204" pitchFamily="18" charset="0"/>
              </a:rPr>
            </a:br>
            <a:r>
              <a:rPr lang="en-GB" dirty="0">
                <a:latin typeface="Cambria" panose="02040503050406030204" pitchFamily="18" charset="0"/>
                <a:ea typeface="Cambria" panose="02040503050406030204" pitchFamily="18" charset="0"/>
              </a:rPr>
              <a:t/>
            </a:r>
            <a:br>
              <a:rPr lang="en-GB" dirty="0">
                <a:latin typeface="Cambria" panose="02040503050406030204" pitchFamily="18" charset="0"/>
                <a:ea typeface="Cambria" panose="02040503050406030204" pitchFamily="18" charset="0"/>
              </a:rPr>
            </a:br>
            <a:endParaRPr lang="en-GB" dirty="0">
              <a:latin typeface="Cambria" panose="02040503050406030204" pitchFamily="18" charset="0"/>
              <a:ea typeface="Cambria" panose="02040503050406030204" pitchFamily="18" charset="0"/>
            </a:endParaRPr>
          </a:p>
          <a:p>
            <a:pPr fontAlgn="base"/>
            <a:r>
              <a:rPr lang="en-GB" dirty="0">
                <a:latin typeface="Cambria" panose="02040503050406030204" pitchFamily="18" charset="0"/>
                <a:ea typeface="Cambria" panose="02040503050406030204" pitchFamily="18" charset="0"/>
              </a:rPr>
              <a:t>Enable adaptive robot </a:t>
            </a:r>
            <a:r>
              <a:rPr lang="en-GB" dirty="0" smtClean="0">
                <a:latin typeface="Cambria" panose="02040503050406030204" pitchFamily="18" charset="0"/>
                <a:ea typeface="Cambria" panose="02040503050406030204" pitchFamily="18" charset="0"/>
              </a:rPr>
              <a:t>behaviour </a:t>
            </a:r>
            <a:r>
              <a:rPr lang="en-GB" dirty="0">
                <a:latin typeface="Cambria" panose="02040503050406030204" pitchFamily="18" charset="0"/>
                <a:ea typeface="Cambria" panose="02040503050406030204" pitchFamily="18" charset="0"/>
              </a:rPr>
              <a:t>based on gesture order and context</a:t>
            </a:r>
            <a:br>
              <a:rPr lang="en-GB" dirty="0">
                <a:latin typeface="Cambria" panose="02040503050406030204" pitchFamily="18" charset="0"/>
                <a:ea typeface="Cambria" panose="02040503050406030204" pitchFamily="18" charset="0"/>
              </a:rPr>
            </a:br>
            <a:r>
              <a:rPr lang="en-GB" dirty="0">
                <a:latin typeface="Cambria" panose="02040503050406030204" pitchFamily="18" charset="0"/>
                <a:ea typeface="Cambria" panose="02040503050406030204" pitchFamily="18" charset="0"/>
              </a:rPr>
              <a:t/>
            </a:r>
            <a:br>
              <a:rPr lang="en-GB" dirty="0">
                <a:latin typeface="Cambria" panose="02040503050406030204" pitchFamily="18" charset="0"/>
                <a:ea typeface="Cambria" panose="02040503050406030204" pitchFamily="18" charset="0"/>
              </a:rPr>
            </a:br>
            <a:endParaRPr lang="en-GB" dirty="0">
              <a:latin typeface="Cambria" panose="02040503050406030204" pitchFamily="18" charset="0"/>
              <a:ea typeface="Cambria" panose="02040503050406030204" pitchFamily="18" charset="0"/>
            </a:endParaRPr>
          </a:p>
          <a:p>
            <a:pPr fontAlgn="base"/>
            <a:r>
              <a:rPr lang="en-GB" dirty="0">
                <a:latin typeface="Cambria" panose="02040503050406030204" pitchFamily="18" charset="0"/>
                <a:ea typeface="Cambria" panose="02040503050406030204" pitchFamily="18" charset="0"/>
              </a:rPr>
              <a:t>Execute actions with minimal latency using an embedded controller</a:t>
            </a:r>
            <a:br>
              <a:rPr lang="en-GB" dirty="0">
                <a:latin typeface="Cambria" panose="02040503050406030204" pitchFamily="18" charset="0"/>
                <a:ea typeface="Cambria" panose="02040503050406030204" pitchFamily="18" charset="0"/>
              </a:rPr>
            </a:br>
            <a:r>
              <a:rPr lang="en-GB" dirty="0">
                <a:latin typeface="Cambria" panose="02040503050406030204" pitchFamily="18" charset="0"/>
                <a:ea typeface="Cambria" panose="02040503050406030204" pitchFamily="18" charset="0"/>
              </a:rPr>
              <a:t/>
            </a:r>
            <a:br>
              <a:rPr lang="en-GB" dirty="0">
                <a:latin typeface="Cambria" panose="02040503050406030204" pitchFamily="18" charset="0"/>
                <a:ea typeface="Cambria" panose="02040503050406030204" pitchFamily="18" charset="0"/>
              </a:rPr>
            </a:br>
            <a:endParaRPr lang="en-GB" dirty="0">
              <a:latin typeface="Cambria" panose="02040503050406030204" pitchFamily="18" charset="0"/>
              <a:ea typeface="Cambria" panose="02040503050406030204" pitchFamily="18" charset="0"/>
            </a:endParaRPr>
          </a:p>
          <a:p>
            <a:pPr fontAlgn="base"/>
            <a:r>
              <a:rPr lang="en-GB" dirty="0">
                <a:latin typeface="Cambria" panose="02040503050406030204" pitchFamily="18" charset="0"/>
                <a:ea typeface="Cambria" panose="02040503050406030204" pitchFamily="18" charset="0"/>
              </a:rPr>
              <a:t>Maintain a modular architecture separating vision, logic, and actuation</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64666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latin typeface="Cambria" panose="02040503050406030204" pitchFamily="18" charset="0"/>
                <a:ea typeface="Cambria" panose="02040503050406030204" pitchFamily="18" charset="0"/>
              </a:rPr>
              <a:t>Proposed Methodology</a:t>
            </a:r>
            <a:endParaRPr lang="en-IN" dirty="0">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71781" y="1512670"/>
            <a:ext cx="8866909" cy="4987637"/>
          </a:xfrm>
        </p:spPr>
      </p:pic>
    </p:spTree>
    <p:extLst>
      <p:ext uri="{BB962C8B-B14F-4D97-AF65-F5344CB8AC3E}">
        <p14:creationId xmlns:p14="http://schemas.microsoft.com/office/powerpoint/2010/main" val="435175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latin typeface="Cambria" panose="02040503050406030204" pitchFamily="18" charset="0"/>
                <a:ea typeface="Cambria" panose="02040503050406030204" pitchFamily="18" charset="0"/>
              </a:rPr>
              <a:t>Working progress</a:t>
            </a:r>
            <a:endParaRPr lang="en-IN"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70000" lnSpcReduction="20000"/>
          </a:bodyPr>
          <a:lstStyle/>
          <a:p>
            <a:pPr marL="0" indent="0">
              <a:buNone/>
            </a:pPr>
            <a:r>
              <a:rPr lang="en-GB" b="1" dirty="0" smtClean="0">
                <a:latin typeface="Cambria" panose="02040503050406030204" pitchFamily="18" charset="0"/>
                <a:ea typeface="Cambria" panose="02040503050406030204" pitchFamily="18" charset="0"/>
              </a:rPr>
              <a:t>Components:</a:t>
            </a:r>
          </a:p>
          <a:p>
            <a:r>
              <a:rPr lang="en-IN" dirty="0" smtClean="0">
                <a:latin typeface="Cambria" panose="02040503050406030204" pitchFamily="18" charset="0"/>
                <a:ea typeface="Cambria" panose="02040503050406030204" pitchFamily="18" charset="0"/>
              </a:rPr>
              <a:t>Camera (Webcam / CSI Camera) for image capturing and gestures.</a:t>
            </a:r>
          </a:p>
          <a:p>
            <a:r>
              <a:rPr lang="en-GB" i="1" dirty="0" smtClean="0">
                <a:latin typeface="Cambria" panose="02040503050406030204" pitchFamily="18" charset="0"/>
                <a:ea typeface="Cambria" panose="02040503050406030204" pitchFamily="18" charset="0"/>
              </a:rPr>
              <a:t>Raspberry Pi </a:t>
            </a:r>
            <a:r>
              <a:rPr lang="en-GB" dirty="0" smtClean="0">
                <a:latin typeface="Cambria" panose="02040503050406030204" pitchFamily="18" charset="0"/>
                <a:ea typeface="Cambria" panose="02040503050406030204" pitchFamily="18" charset="0"/>
              </a:rPr>
              <a:t>handles computationally intensive perception and decision-making, while </a:t>
            </a:r>
            <a:r>
              <a:rPr lang="en-GB" i="1" dirty="0" smtClean="0">
                <a:latin typeface="Cambria" panose="02040503050406030204" pitchFamily="18" charset="0"/>
                <a:ea typeface="Cambria" panose="02040503050406030204" pitchFamily="18" charset="0"/>
              </a:rPr>
              <a:t>ESP32</a:t>
            </a:r>
            <a:r>
              <a:rPr lang="en-GB" dirty="0" smtClean="0">
                <a:latin typeface="Cambria" panose="02040503050406030204" pitchFamily="18" charset="0"/>
                <a:ea typeface="Cambria" panose="02040503050406030204" pitchFamily="18" charset="0"/>
              </a:rPr>
              <a:t> ensures deterministic real-time actuation, PWM control and Bluetooth handling.</a:t>
            </a:r>
          </a:p>
          <a:p>
            <a:r>
              <a:rPr lang="en-GB" dirty="0" smtClean="0">
                <a:latin typeface="Cambria" panose="02040503050406030204" pitchFamily="18" charset="0"/>
                <a:ea typeface="Cambria" panose="02040503050406030204" pitchFamily="18" charset="0"/>
              </a:rPr>
              <a:t>For video acquisition, we integrate </a:t>
            </a:r>
            <a:r>
              <a:rPr lang="en-GB" i="1" dirty="0" smtClean="0">
                <a:latin typeface="Cambria" panose="02040503050406030204" pitchFamily="18" charset="0"/>
                <a:ea typeface="Cambria" panose="02040503050406030204" pitchFamily="18" charset="0"/>
              </a:rPr>
              <a:t>OpenCV</a:t>
            </a:r>
            <a:r>
              <a:rPr lang="en-GB" dirty="0" smtClean="0">
                <a:latin typeface="Cambria" panose="02040503050406030204" pitchFamily="18" charset="0"/>
                <a:ea typeface="Cambria" panose="02040503050406030204" pitchFamily="18" charset="0"/>
              </a:rPr>
              <a:t> software with </a:t>
            </a:r>
            <a:r>
              <a:rPr lang="en-GB" i="1" dirty="0" smtClean="0">
                <a:latin typeface="Cambria" panose="02040503050406030204" pitchFamily="18" charset="0"/>
                <a:ea typeface="Cambria" panose="02040503050406030204" pitchFamily="18" charset="0"/>
              </a:rPr>
              <a:t>Media pipe</a:t>
            </a:r>
            <a:r>
              <a:rPr lang="en-GB" dirty="0" smtClean="0">
                <a:latin typeface="Cambria" panose="02040503050406030204" pitchFamily="18" charset="0"/>
                <a:ea typeface="Cambria" panose="02040503050406030204" pitchFamily="18" charset="0"/>
              </a:rPr>
              <a:t>, which extracts gesture control modules to help in recognition patterns.</a:t>
            </a:r>
          </a:p>
          <a:p>
            <a:r>
              <a:rPr lang="en-GB" dirty="0" smtClean="0">
                <a:latin typeface="Cambria" panose="02040503050406030204" pitchFamily="18" charset="0"/>
                <a:ea typeface="Cambria" panose="02040503050406030204" pitchFamily="18" charset="0"/>
              </a:rPr>
              <a:t>The </a:t>
            </a:r>
            <a:r>
              <a:rPr lang="en-GB" i="1" dirty="0" smtClean="0">
                <a:latin typeface="Cambria" panose="02040503050406030204" pitchFamily="18" charset="0"/>
                <a:ea typeface="Cambria" panose="02040503050406030204" pitchFamily="18" charset="0"/>
              </a:rPr>
              <a:t>gesture recognition </a:t>
            </a:r>
            <a:r>
              <a:rPr lang="en-GB" dirty="0" smtClean="0">
                <a:latin typeface="Cambria" panose="02040503050406030204" pitchFamily="18" charset="0"/>
                <a:ea typeface="Cambria" panose="02040503050406030204" pitchFamily="18" charset="0"/>
              </a:rPr>
              <a:t>and sequencing logic depends of the </a:t>
            </a:r>
            <a:r>
              <a:rPr lang="en-GB" i="1" dirty="0" smtClean="0">
                <a:latin typeface="Cambria" panose="02040503050406030204" pitchFamily="18" charset="0"/>
                <a:ea typeface="Cambria" panose="02040503050406030204" pitchFamily="18" charset="0"/>
              </a:rPr>
              <a:t>FSM</a:t>
            </a:r>
            <a:r>
              <a:rPr lang="en-GB" dirty="0" smtClean="0">
                <a:latin typeface="Cambria" panose="02040503050406030204" pitchFamily="18" charset="0"/>
                <a:ea typeface="Cambria" panose="02040503050406030204" pitchFamily="18" charset="0"/>
              </a:rPr>
              <a:t> integrated and the corresponding gesture buffer.</a:t>
            </a:r>
          </a:p>
          <a:p>
            <a:r>
              <a:rPr lang="en-GB" i="1" dirty="0" smtClean="0">
                <a:latin typeface="Cambria" panose="02040503050406030204" pitchFamily="18" charset="0"/>
                <a:ea typeface="Cambria" panose="02040503050406030204" pitchFamily="18" charset="0"/>
              </a:rPr>
              <a:t>UART/ USB Serial Communication </a:t>
            </a:r>
            <a:r>
              <a:rPr lang="en-GB" dirty="0" smtClean="0">
                <a:latin typeface="Cambria" panose="02040503050406030204" pitchFamily="18" charset="0"/>
                <a:ea typeface="Cambria" panose="02040503050406030204" pitchFamily="18" charset="0"/>
              </a:rPr>
              <a:t>between Raspberry Pi and ESP32 making it simple and reliable.</a:t>
            </a:r>
          </a:p>
          <a:p>
            <a:r>
              <a:rPr lang="en-GB" dirty="0" smtClean="0">
                <a:latin typeface="Cambria" panose="02040503050406030204" pitchFamily="18" charset="0"/>
                <a:ea typeface="Cambria" panose="02040503050406030204" pitchFamily="18" charset="0"/>
              </a:rPr>
              <a:t>Reliable </a:t>
            </a:r>
            <a:r>
              <a:rPr lang="en-GB" i="1" dirty="0" smtClean="0">
                <a:latin typeface="Cambria" panose="02040503050406030204" pitchFamily="18" charset="0"/>
                <a:ea typeface="Cambria" panose="02040503050406030204" pitchFamily="18" charset="0"/>
              </a:rPr>
              <a:t>Servo motors </a:t>
            </a:r>
            <a:r>
              <a:rPr lang="en-GB" dirty="0" smtClean="0">
                <a:latin typeface="Cambria" panose="02040503050406030204" pitchFamily="18" charset="0"/>
                <a:ea typeface="Cambria" panose="02040503050406030204" pitchFamily="18" charset="0"/>
              </a:rPr>
              <a:t>(SG90/ MG996R) for robotic joints or entire 3d-printed or ready-made body of robotic arm.</a:t>
            </a:r>
          </a:p>
          <a:p>
            <a:r>
              <a:rPr lang="en-GB" i="1" dirty="0" smtClean="0">
                <a:latin typeface="Cambria" panose="02040503050406030204" pitchFamily="18" charset="0"/>
                <a:ea typeface="Cambria" panose="02040503050406030204" pitchFamily="18" charset="0"/>
              </a:rPr>
              <a:t>External power supply </a:t>
            </a:r>
            <a:r>
              <a:rPr lang="en-GB" dirty="0" smtClean="0">
                <a:latin typeface="Cambria" panose="02040503050406030204" pitchFamily="18" charset="0"/>
                <a:ea typeface="Cambria" panose="02040503050406030204" pitchFamily="18" charset="0"/>
              </a:rPr>
              <a:t>like a battery (5V, 5-10 A) or SMPS is required to ensure no current is taken from the microcontrollers</a:t>
            </a:r>
          </a:p>
          <a:p>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45244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491" y="245052"/>
            <a:ext cx="10515600" cy="1325563"/>
          </a:xfrm>
        </p:spPr>
        <p:txBody>
          <a:bodyPr/>
          <a:lstStyle/>
          <a:p>
            <a:pPr algn="ctr"/>
            <a:r>
              <a:rPr lang="en-GB" dirty="0" smtClean="0">
                <a:latin typeface="Cambria" panose="02040503050406030204" pitchFamily="18" charset="0"/>
                <a:ea typeface="Cambria" panose="02040503050406030204" pitchFamily="18" charset="0"/>
              </a:rPr>
              <a:t>Timeline</a:t>
            </a:r>
            <a:endParaRPr lang="en-IN" dirty="0">
              <a:latin typeface="Cambria" panose="02040503050406030204" pitchFamily="18" charset="0"/>
              <a:ea typeface="Cambria" panose="020405030504060302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95637281"/>
              </p:ext>
            </p:extLst>
          </p:nvPr>
        </p:nvGraphicFramePr>
        <p:xfrm>
          <a:off x="1311565" y="1413163"/>
          <a:ext cx="9513454" cy="4959926"/>
        </p:xfrm>
        <a:graphic>
          <a:graphicData uri="http://schemas.openxmlformats.org/drawingml/2006/table">
            <a:tbl>
              <a:tblPr firstRow="1" bandRow="1">
                <a:tableStyleId>{7E9639D4-E3E2-4D34-9284-5A2195B3D0D7}</a:tableStyleId>
              </a:tblPr>
              <a:tblGrid>
                <a:gridCol w="4756727"/>
                <a:gridCol w="4756727"/>
              </a:tblGrid>
              <a:tr h="426472">
                <a:tc>
                  <a:txBody>
                    <a:bodyPr/>
                    <a:lstStyle/>
                    <a:p>
                      <a:pPr algn="ctr"/>
                      <a:r>
                        <a:rPr lang="en-GB" dirty="0" smtClean="0">
                          <a:latin typeface="Cambria" panose="02040503050406030204" pitchFamily="18" charset="0"/>
                          <a:ea typeface="Cambria" panose="02040503050406030204" pitchFamily="18" charset="0"/>
                        </a:rPr>
                        <a:t>Work</a:t>
                      </a:r>
                      <a:endParaRPr lang="en-IN" dirty="0">
                        <a:latin typeface="Cambria" panose="02040503050406030204" pitchFamily="18" charset="0"/>
                        <a:ea typeface="Cambria" panose="02040503050406030204" pitchFamily="18" charset="0"/>
                      </a:endParaRPr>
                    </a:p>
                  </a:txBody>
                  <a:tcPr/>
                </a:tc>
                <a:tc>
                  <a:txBody>
                    <a:bodyPr/>
                    <a:lstStyle/>
                    <a:p>
                      <a:pPr algn="ctr"/>
                      <a:r>
                        <a:rPr lang="en-GB" dirty="0" smtClean="0">
                          <a:latin typeface="Cambria" panose="02040503050406030204" pitchFamily="18" charset="0"/>
                          <a:ea typeface="Cambria" panose="02040503050406030204" pitchFamily="18" charset="0"/>
                        </a:rPr>
                        <a:t>Date</a:t>
                      </a:r>
                      <a:endParaRPr lang="en-IN" dirty="0">
                        <a:latin typeface="Cambria" panose="02040503050406030204" pitchFamily="18" charset="0"/>
                        <a:ea typeface="Cambria" panose="02040503050406030204" pitchFamily="18" charset="0"/>
                      </a:endParaRPr>
                    </a:p>
                  </a:txBody>
                  <a:tcPr/>
                </a:tc>
              </a:tr>
              <a:tr h="736102">
                <a:tc>
                  <a:txBody>
                    <a:bodyPr/>
                    <a:lstStyle/>
                    <a:p>
                      <a:r>
                        <a:rPr lang="en-GB" dirty="0" smtClean="0">
                          <a:latin typeface="Cambria" panose="02040503050406030204" pitchFamily="18" charset="0"/>
                          <a:ea typeface="Cambria" panose="02040503050406030204" pitchFamily="18" charset="0"/>
                        </a:rPr>
                        <a:t>Background Study and Tool Familiarization – OpenCV and Media Pipe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Dec 25 – Jan 26</a:t>
                      </a:r>
                      <a:endParaRPr lang="en-IN" dirty="0">
                        <a:latin typeface="Cambria" panose="02040503050406030204" pitchFamily="18" charset="0"/>
                        <a:ea typeface="Cambria" panose="02040503050406030204" pitchFamily="18" charset="0"/>
                      </a:endParaRPr>
                    </a:p>
                  </a:txBody>
                  <a:tcPr/>
                </a:tc>
              </a:tr>
              <a:tr h="736102">
                <a:tc>
                  <a:txBody>
                    <a:bodyPr/>
                    <a:lstStyle/>
                    <a:p>
                      <a:r>
                        <a:rPr lang="en-GB" dirty="0" smtClean="0">
                          <a:latin typeface="Cambria" panose="02040503050406030204" pitchFamily="18" charset="0"/>
                          <a:ea typeface="Cambria" panose="02040503050406030204" pitchFamily="18" charset="0"/>
                        </a:rPr>
                        <a:t>Gesture Analysis and Control Strategy Design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Jan 26</a:t>
                      </a:r>
                      <a:endParaRPr lang="en-IN" dirty="0">
                        <a:latin typeface="Cambria" panose="02040503050406030204" pitchFamily="18" charset="0"/>
                        <a:ea typeface="Cambria" panose="02040503050406030204" pitchFamily="18" charset="0"/>
                      </a:endParaRPr>
                    </a:p>
                  </a:txBody>
                  <a:tcPr/>
                </a:tc>
              </a:tr>
              <a:tr h="736102">
                <a:tc>
                  <a:txBody>
                    <a:bodyPr/>
                    <a:lstStyle/>
                    <a:p>
                      <a:r>
                        <a:rPr lang="en-GB" dirty="0" smtClean="0">
                          <a:latin typeface="Cambria" panose="02040503050406030204" pitchFamily="18" charset="0"/>
                          <a:ea typeface="Cambria" panose="02040503050406030204" pitchFamily="18" charset="0"/>
                        </a:rPr>
                        <a:t>System Architecture and Block Diagram Design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Jan 26</a:t>
                      </a:r>
                      <a:endParaRPr lang="en-IN" dirty="0">
                        <a:latin typeface="Cambria" panose="02040503050406030204" pitchFamily="18" charset="0"/>
                        <a:ea typeface="Cambria" panose="02040503050406030204" pitchFamily="18" charset="0"/>
                      </a:endParaRPr>
                    </a:p>
                  </a:txBody>
                  <a:tcPr/>
                </a:tc>
              </a:tr>
              <a:tr h="736102">
                <a:tc>
                  <a:txBody>
                    <a:bodyPr/>
                    <a:lstStyle/>
                    <a:p>
                      <a:r>
                        <a:rPr lang="en-GB" dirty="0" smtClean="0">
                          <a:latin typeface="Cambria" panose="02040503050406030204" pitchFamily="18" charset="0"/>
                          <a:ea typeface="Cambria" panose="02040503050406030204" pitchFamily="18" charset="0"/>
                        </a:rPr>
                        <a:t>Software Development</a:t>
                      </a:r>
                      <a:r>
                        <a:rPr lang="en-GB" baseline="0" dirty="0" smtClean="0">
                          <a:latin typeface="Cambria" panose="02040503050406030204" pitchFamily="18" charset="0"/>
                          <a:ea typeface="Cambria" panose="02040503050406030204" pitchFamily="18" charset="0"/>
                        </a:rPr>
                        <a:t> </a:t>
                      </a:r>
                      <a:r>
                        <a:rPr lang="en-GB" dirty="0" smtClean="0">
                          <a:latin typeface="Cambria" panose="02040503050406030204" pitchFamily="18" charset="0"/>
                          <a:ea typeface="Cambria" panose="02040503050406030204" pitchFamily="18" charset="0"/>
                        </a:rPr>
                        <a:t>–</a:t>
                      </a:r>
                      <a:r>
                        <a:rPr lang="en-GB" baseline="0" dirty="0" smtClean="0">
                          <a:latin typeface="Cambria" panose="02040503050406030204" pitchFamily="18" charset="0"/>
                          <a:ea typeface="Cambria" panose="02040503050406030204" pitchFamily="18" charset="0"/>
                        </a:rPr>
                        <a:t> </a:t>
                      </a:r>
                      <a:r>
                        <a:rPr lang="en-GB" dirty="0" smtClean="0">
                          <a:latin typeface="Cambria" panose="02040503050406030204" pitchFamily="18" charset="0"/>
                          <a:ea typeface="Cambria" panose="02040503050406030204" pitchFamily="18" charset="0"/>
                        </a:rPr>
                        <a:t>Vision and Logic Layer</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Jan 26 – Feb 26</a:t>
                      </a:r>
                      <a:endParaRPr lang="en-IN" dirty="0">
                        <a:latin typeface="Cambria" panose="02040503050406030204" pitchFamily="18" charset="0"/>
                        <a:ea typeface="Cambria" panose="02040503050406030204" pitchFamily="18" charset="0"/>
                      </a:endParaRPr>
                    </a:p>
                  </a:txBody>
                  <a:tcPr/>
                </a:tc>
              </a:tr>
              <a:tr h="426472">
                <a:tc>
                  <a:txBody>
                    <a:bodyPr/>
                    <a:lstStyle/>
                    <a:p>
                      <a:r>
                        <a:rPr lang="en-IN" dirty="0" smtClean="0">
                          <a:latin typeface="Cambria" panose="02040503050406030204" pitchFamily="18" charset="0"/>
                          <a:ea typeface="Cambria" panose="02040503050406030204" pitchFamily="18" charset="0"/>
                        </a:rPr>
                        <a:t>Component Selection and Procurement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Feb 26</a:t>
                      </a:r>
                      <a:endParaRPr lang="en-IN" dirty="0">
                        <a:latin typeface="Cambria" panose="02040503050406030204" pitchFamily="18" charset="0"/>
                        <a:ea typeface="Cambria" panose="02040503050406030204" pitchFamily="18" charset="0"/>
                      </a:endParaRPr>
                    </a:p>
                  </a:txBody>
                  <a:tcPr/>
                </a:tc>
              </a:tr>
              <a:tr h="736102">
                <a:tc>
                  <a:txBody>
                    <a:bodyPr/>
                    <a:lstStyle/>
                    <a:p>
                      <a:r>
                        <a:rPr lang="en-GB" dirty="0" smtClean="0">
                          <a:latin typeface="Cambria" panose="02040503050406030204" pitchFamily="18" charset="0"/>
                          <a:ea typeface="Cambria" panose="02040503050406030204" pitchFamily="18" charset="0"/>
                        </a:rPr>
                        <a:t>Hardware Integration and Embedded Control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Feb 26 – March</a:t>
                      </a:r>
                      <a:r>
                        <a:rPr lang="en-GB" baseline="0" dirty="0" smtClean="0">
                          <a:latin typeface="Cambria" panose="02040503050406030204" pitchFamily="18" charset="0"/>
                          <a:ea typeface="Cambria" panose="02040503050406030204" pitchFamily="18" charset="0"/>
                        </a:rPr>
                        <a:t> 26</a:t>
                      </a:r>
                      <a:endParaRPr lang="en-IN" dirty="0">
                        <a:latin typeface="Cambria" panose="02040503050406030204" pitchFamily="18" charset="0"/>
                        <a:ea typeface="Cambria" panose="02040503050406030204" pitchFamily="18" charset="0"/>
                      </a:endParaRPr>
                    </a:p>
                  </a:txBody>
                  <a:tcPr/>
                </a:tc>
              </a:tr>
              <a:tr h="426472">
                <a:tc>
                  <a:txBody>
                    <a:bodyPr/>
                    <a:lstStyle/>
                    <a:p>
                      <a:r>
                        <a:rPr lang="en-IN" dirty="0" smtClean="0">
                          <a:latin typeface="Cambria" panose="02040503050406030204" pitchFamily="18" charset="0"/>
                          <a:ea typeface="Cambria" panose="02040503050406030204" pitchFamily="18" charset="0"/>
                        </a:rPr>
                        <a:t>Testing, Calibration, and Validation </a:t>
                      </a:r>
                      <a:endParaRPr lang="en-IN" dirty="0">
                        <a:latin typeface="Cambria" panose="02040503050406030204" pitchFamily="18" charset="0"/>
                        <a:ea typeface="Cambria" panose="02040503050406030204" pitchFamily="18" charset="0"/>
                      </a:endParaRPr>
                    </a:p>
                  </a:txBody>
                  <a:tcPr/>
                </a:tc>
                <a:tc>
                  <a:txBody>
                    <a:bodyPr/>
                    <a:lstStyle/>
                    <a:p>
                      <a:r>
                        <a:rPr lang="en-GB" dirty="0" smtClean="0">
                          <a:latin typeface="Cambria" panose="02040503050406030204" pitchFamily="18" charset="0"/>
                          <a:ea typeface="Cambria" panose="02040503050406030204" pitchFamily="18" charset="0"/>
                        </a:rPr>
                        <a:t>March 26</a:t>
                      </a:r>
                      <a:endParaRPr lang="en-IN" dirty="0">
                        <a:latin typeface="Cambria" panose="02040503050406030204" pitchFamily="18" charset="0"/>
                        <a:ea typeface="Cambria" panose="02040503050406030204" pitchFamily="18" charset="0"/>
                      </a:endParaRPr>
                    </a:p>
                  </a:txBody>
                  <a:tcPr/>
                </a:tc>
              </a:tr>
            </a:tbl>
          </a:graphicData>
        </a:graphic>
      </p:graphicFrame>
    </p:spTree>
    <p:extLst>
      <p:ext uri="{BB962C8B-B14F-4D97-AF65-F5344CB8AC3E}">
        <p14:creationId xmlns:p14="http://schemas.microsoft.com/office/powerpoint/2010/main" val="1477171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445</Words>
  <Application>Microsoft Office PowerPoint</Application>
  <PresentationFormat>Widescreen</PresentationFormat>
  <Paragraphs>40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vt:lpstr>
      <vt:lpstr>Office Theme</vt:lpstr>
      <vt:lpstr>Problem Statement</vt:lpstr>
      <vt:lpstr>Literature Survey</vt:lpstr>
      <vt:lpstr>Objectives</vt:lpstr>
      <vt:lpstr>Proposed Methodology</vt:lpstr>
      <vt:lpstr>Working progress</vt:lpstr>
      <vt:lpstr>Timeline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dc:title>
  <dc:creator>DELL</dc:creator>
  <cp:lastModifiedBy>DELL</cp:lastModifiedBy>
  <cp:revision>13</cp:revision>
  <dcterms:created xsi:type="dcterms:W3CDTF">2026-02-09T13:02:56Z</dcterms:created>
  <dcterms:modified xsi:type="dcterms:W3CDTF">2026-02-09T18:55:58Z</dcterms:modified>
</cp:coreProperties>
</file>